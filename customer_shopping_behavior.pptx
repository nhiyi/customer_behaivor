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98231" y="2106066"/>
            <a:ext cx="2395537" cy="314325"/>
          </a:xfrm>
          <a:prstGeom prst="rect">
            <a:avLst/>
          </a:prstGeom>
        </p:spPr>
      </p:pic>
      <p:sp>
        <p:nvSpPr>
          <p:cNvPr id="4" name="TextBox 3"/>
          <p:cNvSpPr txBox="1"/>
          <p:nvPr/>
        </p:nvSpPr>
        <p:spPr>
          <a:xfrm>
            <a:off x="2340378" y="2648991"/>
            <a:ext cx="7511095" cy="1226641"/>
          </a:xfrm>
          <a:prstGeom prst="rect">
            <a:avLst/>
          </a:prstGeom>
          <a:noFill/>
        </p:spPr>
        <p:txBody>
          <a:bodyPr wrap="square" lIns="0" rIns="0" tIns="0" bIns="0" anchor="t">
            <a:spAutoFit/>
          </a:bodyPr>
          <a:lstStyle/>
          <a:p>
            <a:pPr algn="ctr">
              <a:lnSpc>
                <a:spcPts val="4830"/>
              </a:lnSpc>
            </a:pPr>
            <a:r>
              <a:rPr b="1" sz="4200" i="0" u="none">
                <a:solidFill>
                  <a:srgbClr val="0F172A"/>
                </a:solidFill>
                <a:latin typeface="Be Vietnam Pro"/>
              </a:rPr>
              <a:t>Phân Tích Hành Vi Mua Sắm</a:t>
            </a:r>
            <a:r>
              <a:t>
</a:t>
            </a:r>
            <a:r>
              <a:rPr b="1" sz="4200" i="0" u="none">
                <a:solidFill>
                  <a:srgbClr val="0F172A"/>
                </a:solidFill>
                <a:latin typeface="Be Vietnam Pro"/>
              </a:rPr>
              <a:t> Của Khách Hàng</a:t>
            </a:r>
          </a:p>
        </p:txBody>
      </p:sp>
      <p:sp>
        <p:nvSpPr>
          <p:cNvPr id="5" name="TextBox 4"/>
          <p:cNvSpPr txBox="1"/>
          <p:nvPr/>
        </p:nvSpPr>
        <p:spPr>
          <a:xfrm>
            <a:off x="2047875" y="4066133"/>
            <a:ext cx="8096250" cy="571500"/>
          </a:xfrm>
          <a:prstGeom prst="rect">
            <a:avLst/>
          </a:prstGeom>
          <a:noFill/>
        </p:spPr>
        <p:txBody>
          <a:bodyPr wrap="square" lIns="0" rIns="0" tIns="0" bIns="0" anchor="t">
            <a:spAutoFit/>
          </a:bodyPr>
          <a:lstStyle/>
          <a:p>
            <a:pPr algn="ctr">
              <a:lnSpc>
                <a:spcPts val="2250"/>
              </a:lnSpc>
            </a:pPr>
            <a:r>
              <a:rPr b="0" sz="1500" i="0" u="none">
                <a:solidFill>
                  <a:srgbClr val="64748B"/>
                </a:solidFill>
                <a:latin typeface="Inter"/>
              </a:rPr>
              <a:t>Khám phá chuyên sâu từ 3.900 giao dịch thương mại &amp; Định hướng quyết định kinh doanh chiến lược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275522" y="2890837"/>
            <a:ext cx="7640955" cy="600075"/>
          </a:xfrm>
          <a:prstGeom prst="rect">
            <a:avLst/>
          </a:prstGeom>
          <a:noFill/>
        </p:spPr>
        <p:txBody>
          <a:bodyPr wrap="square" lIns="0" rIns="0" tIns="0" bIns="0" anchor="t">
            <a:spAutoFit/>
          </a:bodyPr>
          <a:lstStyle/>
          <a:p>
            <a:pPr algn="ctr"/>
            <a:r>
              <a:rPr b="1" sz="3750" i="0" u="none">
                <a:solidFill>
                  <a:srgbClr val="0F172A"/>
                </a:solidFill>
                <a:latin typeface="Be Vietnam Pro"/>
              </a:rPr>
              <a:t>Tổng Quan Dự Án &amp; Bộ Dữ Liệu</a:t>
            </a:r>
          </a:p>
        </p:txBody>
      </p:sp>
      <p:sp>
        <p:nvSpPr>
          <p:cNvPr id="4" name="TextBox 3"/>
          <p:cNvSpPr txBox="1"/>
          <p:nvPr/>
        </p:nvSpPr>
        <p:spPr>
          <a:xfrm>
            <a:off x="2047875" y="3643312"/>
            <a:ext cx="8096250" cy="571500"/>
          </a:xfrm>
          <a:prstGeom prst="rect">
            <a:avLst/>
          </a:prstGeom>
          <a:noFill/>
        </p:spPr>
        <p:txBody>
          <a:bodyPr wrap="square" lIns="0" rIns="0" tIns="0" bIns="0" anchor="t">
            <a:spAutoFit/>
          </a:bodyPr>
          <a:lstStyle/>
          <a:p>
            <a:pPr algn="ctr">
              <a:lnSpc>
                <a:spcPts val="2250"/>
              </a:lnSpc>
            </a:pPr>
            <a:r>
              <a:rPr b="0" sz="1500" i="0" u="none">
                <a:solidFill>
                  <a:srgbClr val="64748B"/>
                </a:solidFill>
                <a:latin typeface="Inter"/>
              </a:rPr>
              <a:t>Khảo sát toàn diện 3.900 lượt mua hàng nhằm khai phá thông tin chuyên sâu về phân khúc, xu hướng chi tiêu và sở thích sản phẩm.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33128"/>
            <a:ext cx="5381625" cy="3687067"/>
          </a:xfrm>
          <a:prstGeom prst="rect">
            <a:avLst/>
          </a:prstGeom>
        </p:spPr>
      </p:pic>
      <p:pic>
        <p:nvPicPr>
          <p:cNvPr id="4" name="Picture 3" descr="image.png"/>
          <p:cNvPicPr>
            <a:picLocks noChangeAspect="1"/>
          </p:cNvPicPr>
          <p:nvPr/>
        </p:nvPicPr>
        <p:blipFill>
          <a:blip r:embed="rId4"/>
          <a:stretch>
            <a:fillRect/>
          </a:stretch>
        </p:blipFill>
        <p:spPr>
          <a:xfrm>
            <a:off x="6238875" y="1933128"/>
            <a:ext cx="5381625" cy="3687067"/>
          </a:xfrm>
          <a:prstGeom prst="rect">
            <a:avLst/>
          </a:prstGeom>
        </p:spPr>
      </p:pic>
      <p:sp>
        <p:nvSpPr>
          <p:cNvPr id="5" name="TextBox 4"/>
          <p:cNvSpPr txBox="1"/>
          <p:nvPr/>
        </p:nvSpPr>
        <p:spPr>
          <a:xfrm>
            <a:off x="923925" y="2285553"/>
            <a:ext cx="4910613" cy="266700"/>
          </a:xfrm>
          <a:prstGeom prst="rect">
            <a:avLst/>
          </a:prstGeom>
          <a:noFill/>
        </p:spPr>
        <p:txBody>
          <a:bodyPr wrap="square" lIns="0" rIns="0" tIns="0" bIns="0" anchor="t">
            <a:spAutoFit/>
          </a:bodyPr>
          <a:lstStyle/>
          <a:p>
            <a:pPr algn="l"/>
            <a:r>
              <a:rPr b="0" sz="1650" i="0" u="none">
                <a:solidFill>
                  <a:srgbClr val="4F46E5"/>
                </a:solidFill>
                <a:latin typeface="Be Vietnam Pro SemiBold"/>
              </a:rPr>
              <a:t>Cấu Trúc Bộ Dữ Liệu</a:t>
            </a:r>
          </a:p>
        </p:txBody>
      </p:sp>
      <p:sp>
        <p:nvSpPr>
          <p:cNvPr id="6" name="TextBox 5"/>
          <p:cNvSpPr txBox="1"/>
          <p:nvPr/>
        </p:nvSpPr>
        <p:spPr>
          <a:xfrm>
            <a:off x="923925" y="2666553"/>
            <a:ext cx="4676775" cy="501848"/>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Bộ dữ liệu gồm </a:t>
            </a:r>
            <a:r>
              <a:rPr b="1" sz="1275" i="0" u="none">
                <a:solidFill>
                  <a:srgbClr val="475569"/>
                </a:solidFill>
                <a:latin typeface="Inter"/>
              </a:rPr>
              <a:t>3.900 dòng</a:t>
            </a:r>
            <a:r>
              <a:rPr b="0" sz="1275" i="0" u="none">
                <a:solidFill>
                  <a:srgbClr val="475569"/>
                </a:solidFill>
                <a:latin typeface="Inter"/>
              </a:rPr>
              <a:t> và </a:t>
            </a:r>
            <a:r>
              <a:rPr b="1" sz="1275" i="0" u="none">
                <a:solidFill>
                  <a:srgbClr val="475569"/>
                </a:solidFill>
                <a:latin typeface="Inter"/>
              </a:rPr>
              <a:t>18 đặc trưng chính</a:t>
            </a:r>
            <a:r>
              <a:rPr b="0" sz="1275" i="0" u="none">
                <a:solidFill>
                  <a:srgbClr val="475569"/>
                </a:solidFill>
                <a:latin typeface="Inter"/>
              </a:rPr>
              <a:t> bao quát các khía cạnh mua sắm:</a:t>
            </a:r>
          </a:p>
        </p:txBody>
      </p:sp>
      <p:sp>
        <p:nvSpPr>
          <p:cNvPr id="7" name="TextBox 6"/>
          <p:cNvSpPr txBox="1"/>
          <p:nvPr/>
        </p:nvSpPr>
        <p:spPr>
          <a:xfrm>
            <a:off x="6591300" y="2285553"/>
            <a:ext cx="4910613" cy="266700"/>
          </a:xfrm>
          <a:prstGeom prst="rect">
            <a:avLst/>
          </a:prstGeom>
          <a:noFill/>
        </p:spPr>
        <p:txBody>
          <a:bodyPr wrap="square" lIns="0" rIns="0" tIns="0" bIns="0" anchor="t">
            <a:spAutoFit/>
          </a:bodyPr>
          <a:lstStyle/>
          <a:p>
            <a:pPr algn="l"/>
            <a:r>
              <a:rPr b="0" sz="1650" i="0" u="none">
                <a:solidFill>
                  <a:srgbClr val="4F46E5"/>
                </a:solidFill>
                <a:latin typeface="Be Vietnam Pro SemiBold"/>
              </a:rPr>
              <a:t>Quy Trình Xử Lý Python</a:t>
            </a:r>
          </a:p>
        </p:txBody>
      </p:sp>
      <p:sp>
        <p:nvSpPr>
          <p:cNvPr id="8" name="TextBox 7"/>
          <p:cNvSpPr txBox="1"/>
          <p:nvPr/>
        </p:nvSpPr>
        <p:spPr>
          <a:xfrm>
            <a:off x="6591300" y="2666553"/>
            <a:ext cx="4676775" cy="501848"/>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Thực hiện tiền xử lý dữ liệu chuẩn hóa bằng thư viện Pandas:</a:t>
            </a:r>
          </a:p>
        </p:txBody>
      </p:sp>
      <p:sp>
        <p:nvSpPr>
          <p:cNvPr id="9" name="TextBox 8"/>
          <p:cNvSpPr txBox="1"/>
          <p:nvPr/>
        </p:nvSpPr>
        <p:spPr>
          <a:xfrm>
            <a:off x="1019175" y="3284368"/>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10" name="TextBox 9"/>
          <p:cNvSpPr txBox="1"/>
          <p:nvPr/>
        </p:nvSpPr>
        <p:spPr>
          <a:xfrm>
            <a:off x="1114425" y="3282701"/>
            <a:ext cx="4486275" cy="501848"/>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Nhân khẩu học:</a:t>
            </a:r>
            <a:r>
              <a:rPr b="0" sz="1275" i="0" u="none">
                <a:solidFill>
                  <a:srgbClr val="475569"/>
                </a:solidFill>
                <a:latin typeface="Inter"/>
              </a:rPr>
              <a:t> Tuổi, Giới tính, Khu vực, Trạng thái thành viên.</a:t>
            </a:r>
          </a:p>
        </p:txBody>
      </p:sp>
      <p:sp>
        <p:nvSpPr>
          <p:cNvPr id="11" name="TextBox 10"/>
          <p:cNvSpPr txBox="1"/>
          <p:nvPr/>
        </p:nvSpPr>
        <p:spPr>
          <a:xfrm>
            <a:off x="1019175" y="3862417"/>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12" name="TextBox 11"/>
          <p:cNvSpPr txBox="1"/>
          <p:nvPr/>
        </p:nvSpPr>
        <p:spPr>
          <a:xfrm>
            <a:off x="1114425" y="3860750"/>
            <a:ext cx="4486275" cy="501848"/>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Thông tin đơn hàng:</a:t>
            </a:r>
            <a:r>
              <a:rPr b="0" sz="1275" i="0" u="none">
                <a:solidFill>
                  <a:srgbClr val="475569"/>
                </a:solidFill>
                <a:latin typeface="Inter"/>
              </a:rPr>
              <a:t> Sản phẩm, Danh mục, Giá trị mua, Kích cỡ, Màu sắc, Mùa.</a:t>
            </a:r>
          </a:p>
        </p:txBody>
      </p:sp>
      <p:sp>
        <p:nvSpPr>
          <p:cNvPr id="13" name="TextBox 12"/>
          <p:cNvSpPr txBox="1"/>
          <p:nvPr/>
        </p:nvSpPr>
        <p:spPr>
          <a:xfrm>
            <a:off x="1019175" y="4440465"/>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14" name="TextBox 13"/>
          <p:cNvSpPr txBox="1"/>
          <p:nvPr/>
        </p:nvSpPr>
        <p:spPr>
          <a:xfrm>
            <a:off x="1114425" y="4438798"/>
            <a:ext cx="4486275" cy="501848"/>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Hành vi giao dịch:</a:t>
            </a:r>
            <a:r>
              <a:rPr b="0" sz="1275" i="0" u="none">
                <a:solidFill>
                  <a:srgbClr val="475569"/>
                </a:solidFill>
                <a:latin typeface="Inter"/>
              </a:rPr>
              <a:t> Mã giảm giá, Tần suất mua, Đánh giá, Vận chuyển.</a:t>
            </a:r>
          </a:p>
        </p:txBody>
      </p:sp>
      <p:sp>
        <p:nvSpPr>
          <p:cNvPr id="15" name="TextBox 14"/>
          <p:cNvSpPr txBox="1"/>
          <p:nvPr/>
        </p:nvSpPr>
        <p:spPr>
          <a:xfrm>
            <a:off x="6686550" y="3284368"/>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16" name="TextBox 15"/>
          <p:cNvSpPr txBox="1"/>
          <p:nvPr/>
        </p:nvSpPr>
        <p:spPr>
          <a:xfrm>
            <a:off x="6781800" y="3282701"/>
            <a:ext cx="4486275" cy="501848"/>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Điền dữ liệu thiếu:</a:t>
            </a:r>
            <a:r>
              <a:rPr b="0" sz="1275" i="0" u="none">
                <a:solidFill>
                  <a:srgbClr val="475569"/>
                </a:solidFill>
                <a:latin typeface="Inter"/>
              </a:rPr>
              <a:t> Xử lý 37 giá trị thiếu trong </a:t>
            </a:r>
            <a:r>
              <a:rPr b="0" sz="1275" i="1" u="none">
                <a:solidFill>
                  <a:srgbClr val="475569"/>
                </a:solidFill>
                <a:latin typeface="Inter"/>
              </a:rPr>
              <a:t>Review Rating</a:t>
            </a:r>
            <a:r>
              <a:rPr b="0" sz="1275" i="0" u="none">
                <a:solidFill>
                  <a:srgbClr val="475569"/>
                </a:solidFill>
                <a:latin typeface="Inter"/>
              </a:rPr>
              <a:t> bằng Median từng danh mục.</a:t>
            </a:r>
          </a:p>
        </p:txBody>
      </p:sp>
      <p:sp>
        <p:nvSpPr>
          <p:cNvPr id="17" name="TextBox 16"/>
          <p:cNvSpPr txBox="1"/>
          <p:nvPr/>
        </p:nvSpPr>
        <p:spPr>
          <a:xfrm>
            <a:off x="6686550" y="3862417"/>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18" name="TextBox 17"/>
          <p:cNvSpPr txBox="1"/>
          <p:nvPr/>
        </p:nvSpPr>
        <p:spPr>
          <a:xfrm>
            <a:off x="6781800" y="3860750"/>
            <a:ext cx="4486275" cy="752772"/>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Chuẩn hóa &amp; Tạo thuộc tính:</a:t>
            </a:r>
            <a:r>
              <a:rPr b="0" sz="1275" i="0" u="none">
                <a:solidFill>
                  <a:srgbClr val="475569"/>
                </a:solidFill>
                <a:latin typeface="Inter"/>
              </a:rPr>
              <a:t> Đổi tên cột snake_case, tạo phân nhóm độ tuổi </a:t>
            </a:r>
            <a:r>
              <a:rPr b="0" sz="1275" i="1" u="none">
                <a:solidFill>
                  <a:srgbClr val="475569"/>
                </a:solidFill>
                <a:latin typeface="Inter"/>
              </a:rPr>
              <a:t>age_group</a:t>
            </a:r>
            <a:r>
              <a:rPr b="0" sz="1275" i="0" u="none">
                <a:solidFill>
                  <a:srgbClr val="475569"/>
                </a:solidFill>
                <a:latin typeface="Inter"/>
              </a:rPr>
              <a:t> và </a:t>
            </a:r>
            <a:r>
              <a:rPr b="0" sz="1275" i="1" u="none">
                <a:solidFill>
                  <a:srgbClr val="475569"/>
                </a:solidFill>
                <a:latin typeface="Inter"/>
              </a:rPr>
              <a:t>purchase_frequency_days</a:t>
            </a:r>
            <a:r>
              <a:rPr b="0" sz="1275" i="0" u="none">
                <a:solidFill>
                  <a:srgbClr val="475569"/>
                </a:solidFill>
                <a:latin typeface="Inter"/>
              </a:rPr>
              <a:t>.</a:t>
            </a:r>
          </a:p>
        </p:txBody>
      </p:sp>
      <p:sp>
        <p:nvSpPr>
          <p:cNvPr id="19" name="TextBox 18"/>
          <p:cNvSpPr txBox="1"/>
          <p:nvPr/>
        </p:nvSpPr>
        <p:spPr>
          <a:xfrm>
            <a:off x="6686550" y="4691389"/>
            <a:ext cx="95250" cy="247650"/>
          </a:xfrm>
          <a:prstGeom prst="rect">
            <a:avLst/>
          </a:prstGeom>
          <a:noFill/>
        </p:spPr>
        <p:txBody>
          <a:bodyPr wrap="square" lIns="0" rIns="0" tIns="0" bIns="0" anchor="t">
            <a:spAutoFit/>
          </a:bodyPr>
          <a:lstStyle/>
          <a:p>
            <a:pPr algn="l"/>
            <a:r>
              <a:rPr b="0" sz="1275" i="0" u="none">
                <a:solidFill>
                  <a:srgbClr val="475569"/>
                </a:solidFill>
                <a:latin typeface="Inter"/>
              </a:rPr>
              <a:t>•</a:t>
            </a:r>
          </a:p>
        </p:txBody>
      </p:sp>
      <p:sp>
        <p:nvSpPr>
          <p:cNvPr id="20" name="TextBox 19"/>
          <p:cNvSpPr txBox="1"/>
          <p:nvPr/>
        </p:nvSpPr>
        <p:spPr>
          <a:xfrm>
            <a:off x="6781800" y="4689723"/>
            <a:ext cx="4486275" cy="501848"/>
          </a:xfrm>
          <a:prstGeom prst="rect">
            <a:avLst/>
          </a:prstGeom>
          <a:noFill/>
        </p:spPr>
        <p:txBody>
          <a:bodyPr wrap="square" lIns="95250" rIns="0" tIns="0" bIns="0" anchor="t">
            <a:spAutoFit/>
          </a:bodyPr>
          <a:lstStyle/>
          <a:p>
            <a:pPr algn="l">
              <a:lnSpc>
                <a:spcPts val="1976"/>
              </a:lnSpc>
            </a:pPr>
            <a:r>
              <a:rPr b="1" sz="1275" i="0" u="none">
                <a:solidFill>
                  <a:srgbClr val="475569"/>
                </a:solidFill>
                <a:latin typeface="Inter"/>
              </a:rPr>
              <a:t>Tích hợp SQL:</a:t>
            </a:r>
            <a:r>
              <a:rPr b="0" sz="1275" i="0" u="none">
                <a:solidFill>
                  <a:srgbClr val="475569"/>
                </a:solidFill>
                <a:latin typeface="Inter"/>
              </a:rPr>
              <a:t> Nạp dữ liệu sạch vào PostgreSQL phục vụ truy vấn.</a:t>
            </a:r>
          </a:p>
        </p:txBody>
      </p:sp>
      <p:sp>
        <p:nvSpPr>
          <p:cNvPr id="21" name="TextBox 20"/>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Cấu Trúc &amp; Quy Trình Làm Sạch Dữ Liệu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171575"/>
            <a:ext cx="11049000" cy="5210175"/>
          </a:xfrm>
          <a:prstGeom prst="rect">
            <a:avLst/>
          </a:prstGeom>
        </p:spPr>
      </p:pic>
      <p:sp>
        <p:nvSpPr>
          <p:cNvPr id="4" name="Rectangle 3"/>
          <p:cNvSpPr/>
          <p:nvPr/>
        </p:nvSpPr>
        <p:spPr>
          <a:xfrm>
            <a:off x="571500" y="3935313"/>
            <a:ext cx="11049000" cy="7685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068663"/>
            <a:ext cx="10668000" cy="501848"/>
          </a:xfrm>
          <a:prstGeom prst="rect">
            <a:avLst/>
          </a:prstGeom>
          <a:noFill/>
        </p:spPr>
        <p:txBody>
          <a:bodyPr wrap="square" lIns="0" rIns="0" tIns="0" bIns="0" anchor="t">
            <a:spAutoFit/>
          </a:bodyPr>
          <a:lstStyle/>
          <a:p>
            <a:pPr algn="l">
              <a:lnSpc>
                <a:spcPts val="1976"/>
              </a:lnSpc>
            </a:pPr>
            <a:r>
              <a:rPr b="1" sz="1275" i="0" u="none">
                <a:solidFill>
                  <a:srgbClr val="475569"/>
                </a:solidFill>
                <a:latin typeface="Inter"/>
              </a:rPr>
              <a:t>Insight chính:</a:t>
            </a:r>
            <a:r>
              <a:rPr b="0" sz="1275" i="0" u="none">
                <a:solidFill>
                  <a:srgbClr val="475569"/>
                </a:solidFill>
                <a:latin typeface="Inter"/>
              </a:rPr>
              <a:t> Khách hàng Nam đóng góp hơn 2/3 tổng doanh thu toàn hệ thống. Phân khúc Nữ giới hiện chiếm tỷ trọng thấp hơn, mở ra dư địa tăng trưởng lớn cho các chiến dịch tiếp thị mục tiêu.</a:t>
            </a:r>
          </a:p>
        </p:txBody>
      </p:sp>
      <p:sp>
        <p:nvSpPr>
          <p:cNvPr id="6" name="Rectangle 5"/>
          <p:cNvSpPr/>
          <p:nvPr/>
        </p:nvSpPr>
        <p:spPr>
          <a:xfrm>
            <a:off x="571500" y="3935313"/>
            <a:ext cx="38100" cy="7685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Cơ Cấu Doanh Thu Theo Giới Tính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171575"/>
            <a:ext cx="11049000" cy="5210175"/>
          </a:xfrm>
          <a:prstGeom prst="rect">
            <a:avLst/>
          </a:prstGeom>
        </p:spPr>
      </p:pic>
      <p:sp>
        <p:nvSpPr>
          <p:cNvPr id="4" name="Rectangle 3"/>
          <p:cNvSpPr/>
          <p:nvPr/>
        </p:nvSpPr>
        <p:spPr>
          <a:xfrm>
            <a:off x="571500" y="4878288"/>
            <a:ext cx="11049000" cy="7685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5011638"/>
            <a:ext cx="10668000" cy="501848"/>
          </a:xfrm>
          <a:prstGeom prst="rect">
            <a:avLst/>
          </a:prstGeom>
          <a:noFill/>
        </p:spPr>
        <p:txBody>
          <a:bodyPr wrap="square" lIns="0" rIns="0" tIns="0" bIns="0" anchor="t">
            <a:spAutoFit/>
          </a:bodyPr>
          <a:lstStyle/>
          <a:p>
            <a:pPr algn="l">
              <a:lnSpc>
                <a:spcPts val="1976"/>
              </a:lnSpc>
            </a:pPr>
            <a:r>
              <a:rPr b="1" sz="1275" i="0" u="none">
                <a:solidFill>
                  <a:srgbClr val="475569"/>
                </a:solidFill>
                <a:latin typeface="Inter"/>
              </a:rPr>
              <a:t>Nhận xét:</a:t>
            </a:r>
            <a:r>
              <a:rPr b="0" sz="1275" i="0" u="none">
                <a:solidFill>
                  <a:srgbClr val="475569"/>
                </a:solidFill>
                <a:latin typeface="Inter"/>
              </a:rPr>
              <a:t> Chi tiêu trung bình giữa nhóm Hội viên (59.8 USD) và Chưa đăng ký (59.5 USD) gần như tương đương. Cần gia tăng quyền lợi độc quyền để kích thích tỷ lệ chuyển đổi đăng ký thành viên.</a:t>
            </a:r>
          </a:p>
        </p:txBody>
      </p:sp>
      <p:sp>
        <p:nvSpPr>
          <p:cNvPr id="6" name="Rectangle 5"/>
          <p:cNvSpPr/>
          <p:nvPr/>
        </p:nvSpPr>
        <p:spPr>
          <a:xfrm>
            <a:off x="571500" y="4878288"/>
            <a:ext cx="38100" cy="7685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Phân Tích Tỷ Lệ Đăng Ký Hội Viên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2088207"/>
          <a:ext cx="11029947" cy="3376761"/>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417141"/>
                <a:gridCol w="3610867"/>
                <a:gridCol w="2982366"/>
                <a:gridCol w="3019573"/>
              </a:tblGrid>
              <a:tr h="562793">
                <a:tc>
                  <a:txBody>
                    <a:bodyPr/>
                    <a:lstStyle/>
                    <a:p>
                      <a:pPr algn="l"/>
                      <a:r>
                        <a:rPr b="0" sz="1200" i="0" u="none">
                          <a:solidFill>
                            <a:srgbClr val="FFFFFF"/>
                          </a:solidFill>
                          <a:latin typeface="Be Vietnam Pro SemiBold"/>
                        </a:rPr>
                        <a:t>Thứ hạng</a:t>
                      </a:r>
                    </a:p>
                  </a:txBody>
                  <a:tcPr anchor="ctr" marL="63500" marR="63500" marT="25400" marB="25400">
                    <a:lnL>
                      <a:noFill/>
                    </a:lnL>
                    <a:lnR>
                      <a:noFill/>
                    </a:lnR>
                    <a:lnT>
                      <a:noFill/>
                    </a:lnT>
                    <a:lnB>
                      <a:noFill/>
                    </a:lnB>
                    <a:solidFill>
                      <a:srgbClr val="0F172A"/>
                    </a:solidFill>
                  </a:tcPr>
                </a:tc>
                <a:tc>
                  <a:txBody>
                    <a:bodyPr/>
                    <a:lstStyle/>
                    <a:p>
                      <a:pPr algn="l"/>
                      <a:r>
                        <a:rPr b="0" sz="1200" i="0" u="none">
                          <a:solidFill>
                            <a:srgbClr val="FFFFFF"/>
                          </a:solidFill>
                          <a:latin typeface="Be Vietnam Pro SemiBold"/>
                        </a:rPr>
                        <a:t>Tên sản phẩm (Item Purchased)</a:t>
                      </a:r>
                    </a:p>
                  </a:txBody>
                  <a:tcPr anchor="ctr" marL="63500" marR="63500" marT="25400" marB="25400">
                    <a:lnL>
                      <a:noFill/>
                    </a:lnL>
                    <a:lnR>
                      <a:noFill/>
                    </a:lnR>
                    <a:lnT>
                      <a:noFill/>
                    </a:lnT>
                    <a:lnB>
                      <a:noFill/>
                    </a:lnB>
                    <a:solidFill>
                      <a:srgbClr val="0F172A"/>
                    </a:solidFill>
                  </a:tcPr>
                </a:tc>
                <a:tc>
                  <a:txBody>
                    <a:bodyPr/>
                    <a:lstStyle/>
                    <a:p>
                      <a:pPr algn="l"/>
                      <a:r>
                        <a:rPr b="0" sz="1200" i="0" u="none">
                          <a:solidFill>
                            <a:srgbClr val="FFFFFF"/>
                          </a:solidFill>
                          <a:latin typeface="Be Vietnam Pro SemiBold"/>
                        </a:rPr>
                        <a:t>Điểm đánh giá trung bình</a:t>
                      </a:r>
                    </a:p>
                  </a:txBody>
                  <a:tcPr anchor="ctr" marL="63500" marR="63500" marT="25400" marB="25400">
                    <a:lnL>
                      <a:noFill/>
                    </a:lnL>
                    <a:lnR>
                      <a:noFill/>
                    </a:lnR>
                    <a:lnT>
                      <a:noFill/>
                    </a:lnT>
                    <a:lnB>
                      <a:noFill/>
                    </a:lnB>
                    <a:solidFill>
                      <a:srgbClr val="0F172A"/>
                    </a:solidFill>
                  </a:tcPr>
                </a:tc>
                <a:tc>
                  <a:txBody>
                    <a:bodyPr/>
                    <a:lstStyle/>
                    <a:p>
                      <a:pPr algn="l"/>
                      <a:r>
                        <a:rPr b="0" sz="1200" i="0" u="none">
                          <a:solidFill>
                            <a:srgbClr val="FFFFFF"/>
                          </a:solidFill>
                          <a:latin typeface="Be Vietnam Pro SemiBold"/>
                        </a:rPr>
                        <a:t>Đánh giá mức độ hài lòng</a:t>
                      </a:r>
                    </a:p>
                  </a:txBody>
                  <a:tcPr anchor="ctr" marL="63500" marR="63500" marT="25400" marB="25400">
                    <a:lnL>
                      <a:noFill/>
                    </a:lnL>
                    <a:lnR>
                      <a:noFill/>
                    </a:lnR>
                    <a:lnT>
                      <a:noFill/>
                    </a:lnT>
                    <a:lnB>
                      <a:noFill/>
                    </a:lnB>
                    <a:solidFill>
                      <a:srgbClr val="0F172A"/>
                    </a:solidFill>
                  </a:tcPr>
                </a:tc>
              </a:tr>
              <a:tr h="562793">
                <a:tc>
                  <a:txBody>
                    <a:bodyPr/>
                    <a:lstStyle/>
                    <a:p>
                      <a:pPr algn="l"/>
                      <a:r>
                        <a:rPr b="1" sz="1275" i="0" u="none">
                          <a:solidFill>
                            <a:srgbClr val="475569"/>
                          </a:solidFill>
                          <a:latin typeface="Inter"/>
                        </a:rPr>
                        <a:t>#1</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Gloves (Găng tay)</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3.86 / 5.0 ⭐</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059669"/>
                          </a:solidFill>
                          <a:latin typeface="Inter SemiBold"/>
                        </a:rPr>
                        <a:t>Rất Cao</a:t>
                      </a:r>
                    </a:p>
                  </a:txBody>
                  <a:tcPr anchor="ctr" marL="63500" marR="63500" marT="25400" marB="25400">
                    <a:lnL>
                      <a:noFill/>
                    </a:lnL>
                    <a:lnR>
                      <a:noFill/>
                    </a:lnR>
                    <a:lnT>
                      <a:noFill/>
                    </a:lnT>
                    <a:lnB>
                      <a:noFill/>
                    </a:lnB>
                    <a:solidFill>
                      <a:srgbClr val="FFFFFF"/>
                    </a:solidFill>
                  </a:tcPr>
                </a:tc>
              </a:tr>
              <a:tr h="562793">
                <a:tc>
                  <a:txBody>
                    <a:bodyPr/>
                    <a:lstStyle/>
                    <a:p>
                      <a:pPr algn="l"/>
                      <a:r>
                        <a:rPr b="1" sz="1275" i="0" u="none">
                          <a:solidFill>
                            <a:srgbClr val="475569"/>
                          </a:solidFill>
                          <a:latin typeface="Inter"/>
                        </a:rPr>
                        <a:t>#2</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475569"/>
                          </a:solidFill>
                          <a:latin typeface="Inter"/>
                        </a:rPr>
                        <a:t>Sandals (Sandal)</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475569"/>
                          </a:solidFill>
                          <a:latin typeface="Inter"/>
                        </a:rPr>
                        <a:t>3.84 / 5.0 ⭐</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059669"/>
                          </a:solidFill>
                          <a:latin typeface="Inter SemiBold"/>
                        </a:rPr>
                        <a:t>Rất Cao</a:t>
                      </a:r>
                    </a:p>
                  </a:txBody>
                  <a:tcPr anchor="ctr" marL="63500" marR="63500" marT="25400" marB="25400">
                    <a:lnL>
                      <a:noFill/>
                    </a:lnL>
                    <a:lnR>
                      <a:noFill/>
                    </a:lnR>
                    <a:lnT>
                      <a:noFill/>
                    </a:lnT>
                    <a:lnB>
                      <a:noFill/>
                    </a:lnB>
                    <a:solidFill>
                      <a:srgbClr val="F8FAFC"/>
                    </a:solidFill>
                  </a:tcPr>
                </a:tc>
              </a:tr>
              <a:tr h="562793">
                <a:tc>
                  <a:txBody>
                    <a:bodyPr/>
                    <a:lstStyle/>
                    <a:p>
                      <a:pPr algn="l"/>
                      <a:r>
                        <a:rPr b="1" sz="1275" i="0" u="none">
                          <a:solidFill>
                            <a:srgbClr val="475569"/>
                          </a:solidFill>
                          <a:latin typeface="Inter"/>
                        </a:rPr>
                        <a:t>#3</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Boots (Giày bốt)</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3.82 / 5.0 ⭐</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2563EB"/>
                          </a:solidFill>
                          <a:latin typeface="Inter SemiBold"/>
                        </a:rPr>
                        <a:t>Cao</a:t>
                      </a:r>
                    </a:p>
                  </a:txBody>
                  <a:tcPr anchor="ctr" marL="63500" marR="63500" marT="25400" marB="25400">
                    <a:lnL>
                      <a:noFill/>
                    </a:lnL>
                    <a:lnR>
                      <a:noFill/>
                    </a:lnR>
                    <a:lnT>
                      <a:noFill/>
                    </a:lnT>
                    <a:lnB>
                      <a:noFill/>
                    </a:lnB>
                    <a:solidFill>
                      <a:srgbClr val="FFFFFF"/>
                    </a:solidFill>
                  </a:tcPr>
                </a:tc>
              </a:tr>
              <a:tr h="562793">
                <a:tc>
                  <a:txBody>
                    <a:bodyPr/>
                    <a:lstStyle/>
                    <a:p>
                      <a:pPr algn="l"/>
                      <a:r>
                        <a:rPr b="1" sz="1275" i="0" u="none">
                          <a:solidFill>
                            <a:srgbClr val="475569"/>
                          </a:solidFill>
                          <a:latin typeface="Inter"/>
                        </a:rPr>
                        <a:t>#4</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475569"/>
                          </a:solidFill>
                          <a:latin typeface="Inter"/>
                        </a:rPr>
                        <a:t>Hat (Mũ)</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475569"/>
                          </a:solidFill>
                          <a:latin typeface="Inter"/>
                        </a:rPr>
                        <a:t>3.80 / 5.0 ⭐</a:t>
                      </a:r>
                    </a:p>
                  </a:txBody>
                  <a:tcPr anchor="ctr" marL="63500" marR="63500" marT="25400" marB="25400">
                    <a:lnL>
                      <a:noFill/>
                    </a:lnL>
                    <a:lnR>
                      <a:noFill/>
                    </a:lnR>
                    <a:lnT>
                      <a:noFill/>
                    </a:lnT>
                    <a:lnB>
                      <a:noFill/>
                    </a:lnB>
                    <a:solidFill>
                      <a:srgbClr val="F8FAFC"/>
                    </a:solidFill>
                  </a:tcPr>
                </a:tc>
                <a:tc>
                  <a:txBody>
                    <a:bodyPr/>
                    <a:lstStyle/>
                    <a:p>
                      <a:pPr algn="l"/>
                      <a:r>
                        <a:rPr b="0" sz="1275" i="0" u="none">
                          <a:solidFill>
                            <a:srgbClr val="2563EB"/>
                          </a:solidFill>
                          <a:latin typeface="Inter SemiBold"/>
                        </a:rPr>
                        <a:t>Cao</a:t>
                      </a:r>
                    </a:p>
                  </a:txBody>
                  <a:tcPr anchor="ctr" marL="63500" marR="63500" marT="25400" marB="25400">
                    <a:lnL>
                      <a:noFill/>
                    </a:lnL>
                    <a:lnR>
                      <a:noFill/>
                    </a:lnR>
                    <a:lnT>
                      <a:noFill/>
                    </a:lnT>
                    <a:lnB>
                      <a:noFill/>
                    </a:lnB>
                    <a:solidFill>
                      <a:srgbClr val="F8FAFC"/>
                    </a:solidFill>
                  </a:tcPr>
                </a:tc>
              </a:tr>
              <a:tr h="562796">
                <a:tc>
                  <a:txBody>
                    <a:bodyPr/>
                    <a:lstStyle/>
                    <a:p>
                      <a:pPr algn="l"/>
                      <a:r>
                        <a:rPr b="1" sz="1275" i="0" u="none">
                          <a:solidFill>
                            <a:srgbClr val="475569"/>
                          </a:solidFill>
                          <a:latin typeface="Inter"/>
                        </a:rPr>
                        <a:t>#5</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Skirt (Chân váy)</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475569"/>
                          </a:solidFill>
                          <a:latin typeface="Inter"/>
                        </a:rPr>
                        <a:t>3.78 / 5.0 ⭐</a:t>
                      </a:r>
                    </a:p>
                  </a:txBody>
                  <a:tcPr anchor="ctr" marL="63500" marR="63500" marT="25400" marB="25400">
                    <a:lnL>
                      <a:noFill/>
                    </a:lnL>
                    <a:lnR>
                      <a:noFill/>
                    </a:lnR>
                    <a:lnT>
                      <a:noFill/>
                    </a:lnT>
                    <a:lnB>
                      <a:noFill/>
                    </a:lnB>
                    <a:solidFill>
                      <a:srgbClr val="FFFFFF"/>
                    </a:solidFill>
                  </a:tcPr>
                </a:tc>
                <a:tc>
                  <a:txBody>
                    <a:bodyPr/>
                    <a:lstStyle/>
                    <a:p>
                      <a:pPr algn="l"/>
                      <a:r>
                        <a:rPr b="0" sz="1275" i="0" u="none">
                          <a:solidFill>
                            <a:srgbClr val="2563EB"/>
                          </a:solidFill>
                          <a:latin typeface="Inter SemiBold"/>
                        </a:rPr>
                        <a:t>Cao</a:t>
                      </a:r>
                    </a:p>
                  </a:txBody>
                  <a:tcPr anchor="ctr" marL="63500" marR="63500" marT="25400" marB="25400">
                    <a:lnL>
                      <a:noFill/>
                    </a:lnL>
                    <a:lnR>
                      <a:noFill/>
                    </a:lnR>
                    <a:lnT>
                      <a:noFill/>
                    </a:lnT>
                    <a:lnB>
                      <a:noFill/>
                    </a:lnB>
                    <a:solidFill>
                      <a:srgbClr val="FFFFFF"/>
                    </a:solidFill>
                  </a:tcPr>
                </a:tc>
              </a:tr>
            </a:tbl>
          </a:graphicData>
        </a:graphic>
      </p:graphicFrame>
      <p:sp>
        <p:nvSpPr>
          <p:cNvPr id="4" name="Rectangle 3"/>
          <p:cNvSpPr/>
          <p:nvPr/>
        </p:nvSpPr>
        <p:spPr>
          <a:xfrm>
            <a:off x="581025" y="3194446"/>
            <a:ext cx="1417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98166" y="3194446"/>
            <a:ext cx="3610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09034" y="3194446"/>
            <a:ext cx="29823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1401" y="3194446"/>
            <a:ext cx="30195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1025" y="3759696"/>
            <a:ext cx="1417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98166" y="3759696"/>
            <a:ext cx="3610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09034" y="3759696"/>
            <a:ext cx="29823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1401" y="3759696"/>
            <a:ext cx="30195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025" y="4324945"/>
            <a:ext cx="1417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98166" y="4324945"/>
            <a:ext cx="3610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09034" y="4324945"/>
            <a:ext cx="29823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1401" y="4324945"/>
            <a:ext cx="30195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1025" y="4890194"/>
            <a:ext cx="141714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98166" y="4890194"/>
            <a:ext cx="3610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09034" y="4890194"/>
            <a:ext cx="29823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1401" y="4890194"/>
            <a:ext cx="30195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Top 5 Sản Phẩm Đánh Giá Cao Nhất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95562"/>
            <a:ext cx="4419600" cy="2362200"/>
          </a:xfrm>
          <a:prstGeom prst="rect">
            <a:avLst/>
          </a:prstGeom>
        </p:spPr>
      </p:pic>
      <p:sp>
        <p:nvSpPr>
          <p:cNvPr id="4" name="TextBox 3"/>
          <p:cNvSpPr txBox="1"/>
          <p:nvPr/>
        </p:nvSpPr>
        <p:spPr>
          <a:xfrm>
            <a:off x="762000" y="2976562"/>
            <a:ext cx="4038600" cy="1047750"/>
          </a:xfrm>
          <a:prstGeom prst="rect">
            <a:avLst/>
          </a:prstGeom>
          <a:noFill/>
        </p:spPr>
        <p:txBody>
          <a:bodyPr wrap="square" lIns="0" rIns="0" tIns="0" bIns="0" anchor="t">
            <a:spAutoFit/>
          </a:bodyPr>
          <a:lstStyle/>
          <a:p>
            <a:pPr algn="ctr">
              <a:lnSpc>
                <a:spcPts val="8250"/>
              </a:lnSpc>
            </a:pPr>
            <a:r>
              <a:rPr b="0" sz="8250" i="0" u="none">
                <a:solidFill>
                  <a:srgbClr val="FFFFFF"/>
                </a:solidFill>
                <a:latin typeface="Be Vietnam Pro ExtraBold"/>
              </a:rPr>
              <a:t>839</a:t>
            </a:r>
          </a:p>
        </p:txBody>
      </p:sp>
      <p:sp>
        <p:nvSpPr>
          <p:cNvPr id="5" name="TextBox 4"/>
          <p:cNvSpPr txBox="1"/>
          <p:nvPr/>
        </p:nvSpPr>
        <p:spPr>
          <a:xfrm>
            <a:off x="762000" y="4119562"/>
            <a:ext cx="4038600" cy="457200"/>
          </a:xfrm>
          <a:prstGeom prst="rect">
            <a:avLst/>
          </a:prstGeom>
          <a:noFill/>
        </p:spPr>
        <p:txBody>
          <a:bodyPr wrap="square" lIns="0" rIns="0" tIns="0" bIns="0" anchor="t">
            <a:spAutoFit/>
          </a:bodyPr>
          <a:lstStyle/>
          <a:p>
            <a:pPr algn="ctr"/>
            <a:r>
              <a:rPr b="0" sz="1500" i="0" u="none">
                <a:solidFill>
                  <a:srgbClr val="E0E7FF"/>
                </a:solidFill>
                <a:latin typeface="Inter SemiBold"/>
              </a:rPr>
              <a:t>Khách hàng chi tiêu cao có dùng mã giảm giá</a:t>
            </a:r>
          </a:p>
        </p:txBody>
      </p:sp>
      <p:sp>
        <p:nvSpPr>
          <p:cNvPr id="6" name="TextBox 5"/>
          <p:cNvSpPr txBox="1"/>
          <p:nvPr/>
        </p:nvSpPr>
        <p:spPr>
          <a:xfrm>
            <a:off x="5467350" y="2844551"/>
            <a:ext cx="6724650" cy="266700"/>
          </a:xfrm>
          <a:prstGeom prst="rect">
            <a:avLst/>
          </a:prstGeom>
          <a:noFill/>
        </p:spPr>
        <p:txBody>
          <a:bodyPr wrap="square" lIns="0" rIns="0" tIns="0" bIns="0" anchor="t">
            <a:spAutoFit/>
          </a:bodyPr>
          <a:lstStyle/>
          <a:p>
            <a:pPr algn="l"/>
            <a:r>
              <a:rPr b="0" sz="1650" i="0" u="none">
                <a:solidFill>
                  <a:srgbClr val="0F172A"/>
                </a:solidFill>
                <a:latin typeface="Be Vietnam Pro SemiBold"/>
              </a:rPr>
              <a:t>Tối Ưu Mã Khuyến Mãi</a:t>
            </a:r>
          </a:p>
        </p:txBody>
      </p:sp>
      <p:sp>
        <p:nvSpPr>
          <p:cNvPr id="7" name="TextBox 6"/>
          <p:cNvSpPr txBox="1"/>
          <p:nvPr/>
        </p:nvSpPr>
        <p:spPr>
          <a:xfrm>
            <a:off x="5467350" y="3225551"/>
            <a:ext cx="6629400" cy="501848"/>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Kết quả truy vấn SQL xác định được </a:t>
            </a:r>
            <a:r>
              <a:rPr b="1" sz="1275" i="0" u="none">
                <a:solidFill>
                  <a:srgbClr val="475569"/>
                </a:solidFill>
                <a:latin typeface="Inter"/>
              </a:rPr>
              <a:t>839 giao dịch</a:t>
            </a:r>
            <a:r>
              <a:rPr b="0" sz="1275" i="0" u="none">
                <a:solidFill>
                  <a:srgbClr val="475569"/>
                </a:solidFill>
                <a:latin typeface="Inter"/>
              </a:rPr>
              <a:t> có áp dụng chiết khấu nhưng vẫn mang lại giá trị mua hàng cao hơn mức trung bình chung (59.76 USD).</a:t>
            </a:r>
          </a:p>
        </p:txBody>
      </p:sp>
      <p:sp>
        <p:nvSpPr>
          <p:cNvPr id="8" name="TextBox 7"/>
          <p:cNvSpPr txBox="1"/>
          <p:nvPr/>
        </p:nvSpPr>
        <p:spPr>
          <a:xfrm>
            <a:off x="5467350" y="3841700"/>
            <a:ext cx="6629400" cy="752772"/>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Điều này cho thấy chương trình khuyến mãi đóng vai trò đòn bẩy hiệu quả, không chỉ thu hút khách nhạy cảm về giá mà còn thúc đẩy nhóm khách hàng cao cấp gia tăng quy mô giỏ hàng.</a:t>
            </a:r>
          </a:p>
        </p:txBody>
      </p:sp>
      <p:sp>
        <p:nvSpPr>
          <p:cNvPr id="9" name="TextBox 8"/>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Tác Động Của Mã Giảm Giá Đên Chi Tiêu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171575"/>
            <a:ext cx="11049000" cy="5210175"/>
          </a:xfrm>
          <a:prstGeom prst="rect">
            <a:avLst/>
          </a:prstGeom>
        </p:spPr>
      </p:pic>
      <p:sp>
        <p:nvSpPr>
          <p:cNvPr id="4" name="Rectangle 3"/>
          <p:cNvSpPr/>
          <p:nvPr/>
        </p:nvSpPr>
        <p:spPr>
          <a:xfrm>
            <a:off x="571500" y="4792563"/>
            <a:ext cx="11049000" cy="76854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4925913"/>
            <a:ext cx="10668000" cy="501848"/>
          </a:xfrm>
          <a:prstGeom prst="rect">
            <a:avLst/>
          </a:prstGeom>
          <a:noFill/>
        </p:spPr>
        <p:txBody>
          <a:bodyPr wrap="square" lIns="0" rIns="0" tIns="0" bIns="0" anchor="t">
            <a:spAutoFit/>
          </a:bodyPr>
          <a:lstStyle/>
          <a:p>
            <a:pPr algn="l">
              <a:lnSpc>
                <a:spcPts val="1976"/>
              </a:lnSpc>
            </a:pPr>
            <a:r>
              <a:rPr b="1" sz="1275" i="0" u="none">
                <a:solidFill>
                  <a:srgbClr val="475569"/>
                </a:solidFill>
                <a:latin typeface="Inter"/>
              </a:rPr>
              <a:t>Cảnh báo biên lợi nhuận:</a:t>
            </a:r>
            <a:r>
              <a:rPr b="0" sz="1275" i="0" u="none">
                <a:solidFill>
                  <a:srgbClr val="475569"/>
                </a:solidFill>
                <a:latin typeface="Inter"/>
              </a:rPr>
              <a:t> Gần 50% lượt mua sản phẩm Mũ và Giày thể thao phụ thuộc vào mã giảm giá. Cần xem xét lại chính sách chiết khấu để duy trì tỷ suất lợi nhuận sản phẩm.</a:t>
            </a:r>
          </a:p>
        </p:txBody>
      </p:sp>
      <p:sp>
        <p:nvSpPr>
          <p:cNvPr id="6" name="Rectangle 5"/>
          <p:cNvSpPr/>
          <p:nvPr/>
        </p:nvSpPr>
        <p:spPr>
          <a:xfrm>
            <a:off x="571500" y="4792563"/>
            <a:ext cx="38100" cy="7685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Sản Phẩm Phụ Thuộc Nhiều Vào Giảm Giá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200650" cy="819150"/>
          </a:xfrm>
          <a:prstGeom prst="rect">
            <a:avLst/>
          </a:prstGeom>
          <a:noFill/>
        </p:spPr>
        <p:txBody>
          <a:bodyPr wrap="square" lIns="0" rIns="0" tIns="0" bIns="0" anchor="t">
            <a:spAutoFit/>
          </a:bodyPr>
          <a:lstStyle/>
          <a:p>
            <a:pPr algn="l"/>
            <a:r>
              <a:rPr b="1" sz="2550" i="0" u="none">
                <a:solidFill>
                  <a:srgbClr val="0F172A"/>
                </a:solidFill>
                <a:latin typeface="Be Vietnam Pro"/>
              </a:rPr>
              <a:t>Hành Vi Vận Chuyển &amp; Phân Khúc</a:t>
            </a:r>
          </a:p>
        </p:txBody>
      </p:sp>
      <p:pic>
        <p:nvPicPr>
          <p:cNvPr id="4" name="Picture 3" descr="image.png"/>
          <p:cNvPicPr>
            <a:picLocks noChangeAspect="1"/>
          </p:cNvPicPr>
          <p:nvPr/>
        </p:nvPicPr>
        <p:blipFill>
          <a:blip r:embed="rId3"/>
          <a:stretch>
            <a:fillRect/>
          </a:stretch>
        </p:blipFill>
        <p:spPr>
          <a:xfrm>
            <a:off x="6096000" y="0"/>
            <a:ext cx="6096000" cy="6858000"/>
          </a:xfrm>
          <a:prstGeom prst="rect">
            <a:avLst/>
          </a:prstGeom>
        </p:spPr>
      </p:pic>
      <p:sp>
        <p:nvSpPr>
          <p:cNvPr id="5" name="TextBox 4"/>
          <p:cNvSpPr txBox="1"/>
          <p:nvPr/>
        </p:nvSpPr>
        <p:spPr>
          <a:xfrm>
            <a:off x="571500" y="1676400"/>
            <a:ext cx="5200650" cy="266700"/>
          </a:xfrm>
          <a:prstGeom prst="rect">
            <a:avLst/>
          </a:prstGeom>
          <a:noFill/>
        </p:spPr>
        <p:txBody>
          <a:bodyPr wrap="square" lIns="0" rIns="0" tIns="0" bIns="0" anchor="t">
            <a:spAutoFit/>
          </a:bodyPr>
          <a:lstStyle/>
          <a:p>
            <a:pPr algn="l"/>
            <a:r>
              <a:rPr b="0" sz="1650" i="0" u="none">
                <a:solidFill>
                  <a:srgbClr val="0F172A"/>
                </a:solidFill>
                <a:latin typeface="Be Vietnam Pro SemiBold"/>
              </a:rPr>
              <a:t>Phương Thức Giao Hàng</a:t>
            </a:r>
          </a:p>
        </p:txBody>
      </p:sp>
      <p:sp>
        <p:nvSpPr>
          <p:cNvPr id="6" name="TextBox 5"/>
          <p:cNvSpPr txBox="1"/>
          <p:nvPr/>
        </p:nvSpPr>
        <p:spPr>
          <a:xfrm>
            <a:off x="571500" y="2057400"/>
            <a:ext cx="4953000" cy="752772"/>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Khách hàng lựa chọn dịch vụ </a:t>
            </a:r>
            <a:r>
              <a:rPr b="1" sz="1275" i="0" u="none">
                <a:solidFill>
                  <a:srgbClr val="475569"/>
                </a:solidFill>
                <a:latin typeface="Inter"/>
              </a:rPr>
              <a:t>Vận chuyển Nhanh (Express)</a:t>
            </a:r>
            <a:r>
              <a:rPr b="0" sz="1275" i="0" u="none">
                <a:solidFill>
                  <a:srgbClr val="475569"/>
                </a:solidFill>
                <a:latin typeface="Inter"/>
              </a:rPr>
              <a:t> có mức chi tiêu trung bình đạt </a:t>
            </a:r>
            <a:r>
              <a:rPr b="1" sz="1275" i="0" u="none">
                <a:solidFill>
                  <a:srgbClr val="475569"/>
                </a:solidFill>
                <a:latin typeface="Inter"/>
              </a:rPr>
              <a:t>60.48 USD</a:t>
            </a:r>
            <a:r>
              <a:rPr b="0" sz="1275" i="0" u="none">
                <a:solidFill>
                  <a:srgbClr val="475569"/>
                </a:solidFill>
                <a:latin typeface="Inter"/>
              </a:rPr>
              <a:t>, cao hơn so với vận chuyển Tiêu chuẩn (58.46 USD).</a:t>
            </a:r>
          </a:p>
        </p:txBody>
      </p:sp>
      <p:sp>
        <p:nvSpPr>
          <p:cNvPr id="7" name="TextBox 6"/>
          <p:cNvSpPr txBox="1"/>
          <p:nvPr/>
        </p:nvSpPr>
        <p:spPr>
          <a:xfrm>
            <a:off x="571500" y="2924472"/>
            <a:ext cx="5200650" cy="266700"/>
          </a:xfrm>
          <a:prstGeom prst="rect">
            <a:avLst/>
          </a:prstGeom>
          <a:noFill/>
        </p:spPr>
        <p:txBody>
          <a:bodyPr wrap="square" lIns="0" rIns="0" tIns="0" bIns="0" anchor="t">
            <a:spAutoFit/>
          </a:bodyPr>
          <a:lstStyle/>
          <a:p>
            <a:pPr algn="l"/>
            <a:r>
              <a:rPr b="0" sz="1650" i="0" u="none">
                <a:solidFill>
                  <a:srgbClr val="0F172A"/>
                </a:solidFill>
                <a:latin typeface="Be Vietnam Pro SemiBold"/>
              </a:rPr>
              <a:t>Tệp Khách Hàng Mua Lại</a:t>
            </a:r>
          </a:p>
        </p:txBody>
      </p:sp>
      <p:sp>
        <p:nvSpPr>
          <p:cNvPr id="8" name="TextBox 7"/>
          <p:cNvSpPr txBox="1"/>
          <p:nvPr/>
        </p:nvSpPr>
        <p:spPr>
          <a:xfrm>
            <a:off x="571500" y="3305472"/>
            <a:ext cx="4953000" cy="752772"/>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Nhóm khách hàng có lịch sử mua hàng trên 5 lần đóng vai trò nòng cốt. Đây là nhóm mục tiêu tiềm năng nhất để triển khai chương trình thành viên VIP và bán chéo sản phẩm.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55651"/>
            <a:ext cx="3530649" cy="2842021"/>
          </a:xfrm>
          <a:prstGeom prst="rect">
            <a:avLst/>
          </a:prstGeom>
        </p:spPr>
      </p:pic>
      <p:pic>
        <p:nvPicPr>
          <p:cNvPr id="4" name="Picture 3" descr="image.png"/>
          <p:cNvPicPr>
            <a:picLocks noChangeAspect="1"/>
          </p:cNvPicPr>
          <p:nvPr/>
        </p:nvPicPr>
        <p:blipFill>
          <a:blip r:embed="rId4"/>
          <a:stretch>
            <a:fillRect/>
          </a:stretch>
        </p:blipFill>
        <p:spPr>
          <a:xfrm>
            <a:off x="4330749" y="2355651"/>
            <a:ext cx="3530649" cy="2842021"/>
          </a:xfrm>
          <a:prstGeom prst="rect">
            <a:avLst/>
          </a:prstGeom>
        </p:spPr>
      </p:pic>
      <p:pic>
        <p:nvPicPr>
          <p:cNvPr id="5" name="Picture 4" descr="image.png"/>
          <p:cNvPicPr>
            <a:picLocks noChangeAspect="1"/>
          </p:cNvPicPr>
          <p:nvPr/>
        </p:nvPicPr>
        <p:blipFill>
          <a:blip r:embed="rId5"/>
          <a:stretch>
            <a:fillRect/>
          </a:stretch>
        </p:blipFill>
        <p:spPr>
          <a:xfrm>
            <a:off x="8089999" y="2355651"/>
            <a:ext cx="3530649" cy="2842021"/>
          </a:xfrm>
          <a:prstGeom prst="rect">
            <a:avLst/>
          </a:prstGeom>
        </p:spPr>
      </p:pic>
      <p:pic>
        <p:nvPicPr>
          <p:cNvPr id="6" name="Picture 5" descr="image.png"/>
          <p:cNvPicPr>
            <a:picLocks noChangeAspect="1"/>
          </p:cNvPicPr>
          <p:nvPr/>
        </p:nvPicPr>
        <p:blipFill>
          <a:blip r:embed="rId6"/>
          <a:stretch>
            <a:fillRect/>
          </a:stretch>
        </p:blipFill>
        <p:spPr>
          <a:xfrm>
            <a:off x="847725" y="2669976"/>
            <a:ext cx="571500" cy="571500"/>
          </a:xfrm>
          <a:prstGeom prst="rect">
            <a:avLst/>
          </a:prstGeom>
        </p:spPr>
      </p:pic>
      <p:sp>
        <p:nvSpPr>
          <p:cNvPr id="7" name="TextBox 6"/>
          <p:cNvSpPr txBox="1"/>
          <p:nvPr/>
        </p:nvSpPr>
        <p:spPr>
          <a:xfrm>
            <a:off x="847725" y="3431976"/>
            <a:ext cx="3127109" cy="238125"/>
          </a:xfrm>
          <a:prstGeom prst="rect">
            <a:avLst/>
          </a:prstGeom>
          <a:noFill/>
        </p:spPr>
        <p:txBody>
          <a:bodyPr wrap="square" lIns="0" rIns="0" tIns="0" bIns="0" anchor="t">
            <a:spAutoFit/>
          </a:bodyPr>
          <a:lstStyle/>
          <a:p>
            <a:pPr algn="l"/>
            <a:r>
              <a:rPr b="0" sz="1500" i="0" u="none">
                <a:solidFill>
                  <a:srgbClr val="0F172A"/>
                </a:solidFill>
                <a:latin typeface="Be Vietnam Pro SemiBold"/>
              </a:rPr>
              <a:t>Thúc Đẩy Hội Viên</a:t>
            </a:r>
          </a:p>
        </p:txBody>
      </p:sp>
      <p:sp>
        <p:nvSpPr>
          <p:cNvPr id="8" name="TextBox 7"/>
          <p:cNvSpPr txBox="1"/>
          <p:nvPr/>
        </p:nvSpPr>
        <p:spPr>
          <a:xfrm>
            <a:off x="847725" y="3765351"/>
            <a:ext cx="2978199" cy="1003696"/>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Thiết kế quyền lợi riêng cho nhóm gói thành viên (miễn phí giao hàng express, quà tặng sinh nhật) nhằm nâng tỷ lệ đăng ký từ 27% lên 40%+.</a:t>
            </a:r>
          </a:p>
        </p:txBody>
      </p:sp>
      <p:pic>
        <p:nvPicPr>
          <p:cNvPr id="9" name="Picture 8" descr="image.png"/>
          <p:cNvPicPr>
            <a:picLocks noChangeAspect="1"/>
          </p:cNvPicPr>
          <p:nvPr/>
        </p:nvPicPr>
        <p:blipFill>
          <a:blip r:embed="rId7"/>
          <a:stretch>
            <a:fillRect/>
          </a:stretch>
        </p:blipFill>
        <p:spPr>
          <a:xfrm>
            <a:off x="4606974" y="2669976"/>
            <a:ext cx="571500" cy="571500"/>
          </a:xfrm>
          <a:prstGeom prst="rect">
            <a:avLst/>
          </a:prstGeom>
        </p:spPr>
      </p:pic>
      <p:sp>
        <p:nvSpPr>
          <p:cNvPr id="10" name="TextBox 9"/>
          <p:cNvSpPr txBox="1"/>
          <p:nvPr/>
        </p:nvSpPr>
        <p:spPr>
          <a:xfrm>
            <a:off x="4606974" y="3431976"/>
            <a:ext cx="3127109" cy="238125"/>
          </a:xfrm>
          <a:prstGeom prst="rect">
            <a:avLst/>
          </a:prstGeom>
          <a:noFill/>
        </p:spPr>
        <p:txBody>
          <a:bodyPr wrap="square" lIns="0" rIns="0" tIns="0" bIns="0" anchor="t">
            <a:spAutoFit/>
          </a:bodyPr>
          <a:lstStyle/>
          <a:p>
            <a:pPr algn="l"/>
            <a:r>
              <a:rPr b="0" sz="1500" i="0" u="none">
                <a:solidFill>
                  <a:srgbClr val="0F172A"/>
                </a:solidFill>
                <a:latin typeface="Be Vietnam Pro SemiBold"/>
              </a:rPr>
              <a:t>Giữ Chân Khách Hàng</a:t>
            </a:r>
          </a:p>
        </p:txBody>
      </p:sp>
      <p:sp>
        <p:nvSpPr>
          <p:cNvPr id="11" name="TextBox 10"/>
          <p:cNvSpPr txBox="1"/>
          <p:nvPr/>
        </p:nvSpPr>
        <p:spPr>
          <a:xfrm>
            <a:off x="4606974" y="3765351"/>
            <a:ext cx="2978199" cy="1003696"/>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Xây dựng hệ thống thưởng phân tầng (Tier Rewards) cho nhóm trung thành có trên 5 lượt mua, biến họ thành đại sứ thương hiệu.</a:t>
            </a:r>
          </a:p>
        </p:txBody>
      </p:sp>
      <p:pic>
        <p:nvPicPr>
          <p:cNvPr id="12" name="Picture 11" descr="image.png"/>
          <p:cNvPicPr>
            <a:picLocks noChangeAspect="1"/>
          </p:cNvPicPr>
          <p:nvPr/>
        </p:nvPicPr>
        <p:blipFill>
          <a:blip r:embed="rId8"/>
          <a:stretch>
            <a:fillRect/>
          </a:stretch>
        </p:blipFill>
        <p:spPr>
          <a:xfrm>
            <a:off x="8366224" y="2669976"/>
            <a:ext cx="571500" cy="571500"/>
          </a:xfrm>
          <a:prstGeom prst="rect">
            <a:avLst/>
          </a:prstGeom>
        </p:spPr>
      </p:pic>
      <p:sp>
        <p:nvSpPr>
          <p:cNvPr id="13" name="TextBox 12"/>
          <p:cNvSpPr txBox="1"/>
          <p:nvPr/>
        </p:nvSpPr>
        <p:spPr>
          <a:xfrm>
            <a:off x="8366224" y="3431976"/>
            <a:ext cx="3127109" cy="238125"/>
          </a:xfrm>
          <a:prstGeom prst="rect">
            <a:avLst/>
          </a:prstGeom>
          <a:noFill/>
        </p:spPr>
        <p:txBody>
          <a:bodyPr wrap="square" lIns="0" rIns="0" tIns="0" bIns="0" anchor="t">
            <a:spAutoFit/>
          </a:bodyPr>
          <a:lstStyle/>
          <a:p>
            <a:pPr algn="l"/>
            <a:r>
              <a:rPr b="0" sz="1500" i="0" u="none">
                <a:solidFill>
                  <a:srgbClr val="0F172A"/>
                </a:solidFill>
                <a:latin typeface="Be Vietnam Pro SemiBold"/>
              </a:rPr>
              <a:t>Tối Ưu Khuyến Mãi</a:t>
            </a:r>
          </a:p>
        </p:txBody>
      </p:sp>
      <p:sp>
        <p:nvSpPr>
          <p:cNvPr id="14" name="TextBox 13"/>
          <p:cNvSpPr txBox="1"/>
          <p:nvPr/>
        </p:nvSpPr>
        <p:spPr>
          <a:xfrm>
            <a:off x="8366224" y="3765351"/>
            <a:ext cx="2978199" cy="1003696"/>
          </a:xfrm>
          <a:prstGeom prst="rect">
            <a:avLst/>
          </a:prstGeom>
          <a:noFill/>
        </p:spPr>
        <p:txBody>
          <a:bodyPr wrap="square" lIns="0" rIns="0" tIns="0" bIns="0" anchor="t">
            <a:spAutoFit/>
          </a:bodyPr>
          <a:lstStyle/>
          <a:p>
            <a:pPr algn="l">
              <a:lnSpc>
                <a:spcPts val="1976"/>
              </a:lnSpc>
            </a:pPr>
            <a:r>
              <a:rPr b="0" sz="1275" i="0" u="none">
                <a:solidFill>
                  <a:srgbClr val="475569"/>
                </a:solidFill>
                <a:latin typeface="Inter"/>
              </a:rPr>
              <a:t>Cắt giảm chiết khấu đại trà cho các nhóm mặt hàng nhạy cảm (Mũ, Sneakers), thay bằng mã giảm giá có điều kiện tổng đơn hàng.</a:t>
            </a:r>
          </a:p>
        </p:txBody>
      </p:sp>
      <p:pic>
        <p:nvPicPr>
          <p:cNvPr id="15" name="Picture 14" descr="image.png"/>
          <p:cNvPicPr>
            <a:picLocks noChangeAspect="1"/>
          </p:cNvPicPr>
          <p:nvPr/>
        </p:nvPicPr>
        <p:blipFill>
          <a:blip r:embed="rId9"/>
          <a:stretch>
            <a:fillRect/>
          </a:stretch>
        </p:blipFill>
        <p:spPr>
          <a:xfrm>
            <a:off x="995362" y="2831901"/>
            <a:ext cx="276225" cy="247650"/>
          </a:xfrm>
          <a:prstGeom prst="rect">
            <a:avLst/>
          </a:prstGeom>
        </p:spPr>
      </p:pic>
      <p:pic>
        <p:nvPicPr>
          <p:cNvPr id="16" name="Picture 15" descr="image.png"/>
          <p:cNvPicPr>
            <a:picLocks noChangeAspect="1"/>
          </p:cNvPicPr>
          <p:nvPr/>
        </p:nvPicPr>
        <p:blipFill>
          <a:blip r:embed="rId10"/>
          <a:stretch>
            <a:fillRect/>
          </a:stretch>
        </p:blipFill>
        <p:spPr>
          <a:xfrm>
            <a:off x="4768899" y="2831901"/>
            <a:ext cx="247650" cy="247650"/>
          </a:xfrm>
          <a:prstGeom prst="rect">
            <a:avLst/>
          </a:prstGeom>
        </p:spPr>
      </p:pic>
      <p:pic>
        <p:nvPicPr>
          <p:cNvPr id="17" name="Picture 16" descr="image.png"/>
          <p:cNvPicPr>
            <a:picLocks noChangeAspect="1"/>
          </p:cNvPicPr>
          <p:nvPr/>
        </p:nvPicPr>
        <p:blipFill>
          <a:blip r:embed="rId11"/>
          <a:stretch>
            <a:fillRect/>
          </a:stretch>
        </p:blipFill>
        <p:spPr>
          <a:xfrm>
            <a:off x="8528149" y="2831901"/>
            <a:ext cx="247650" cy="247650"/>
          </a:xfrm>
          <a:prstGeom prst="rect">
            <a:avLst/>
          </a:prstGeom>
        </p:spPr>
      </p:pic>
      <p:sp>
        <p:nvSpPr>
          <p:cNvPr id="18" name="TextBox 17"/>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Đề Xuất Chiến Lược Kinh Doanh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3757612"/>
            <a:ext cx="110490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7968" y="4014787"/>
            <a:ext cx="2668302" cy="238125"/>
          </a:xfrm>
          <a:prstGeom prst="rect">
            <a:avLst/>
          </a:prstGeom>
          <a:noFill/>
        </p:spPr>
        <p:txBody>
          <a:bodyPr wrap="square" lIns="0" rIns="0" tIns="0" bIns="0" anchor="t">
            <a:spAutoFit/>
          </a:bodyPr>
          <a:lstStyle/>
          <a:p>
            <a:pPr algn="ctr"/>
            <a:r>
              <a:rPr b="0" sz="1500" i="0" u="none">
                <a:solidFill>
                  <a:srgbClr val="4F46E5"/>
                </a:solidFill>
                <a:latin typeface="Be Vietnam Pro SemiBold"/>
              </a:rPr>
              <a:t>Q1 - Chuẩn Hóa</a:t>
            </a:r>
          </a:p>
        </p:txBody>
      </p:sp>
      <p:sp>
        <p:nvSpPr>
          <p:cNvPr id="5" name="TextBox 4"/>
          <p:cNvSpPr txBox="1"/>
          <p:nvPr/>
        </p:nvSpPr>
        <p:spPr>
          <a:xfrm>
            <a:off x="571500" y="4310062"/>
            <a:ext cx="2541240" cy="664368"/>
          </a:xfrm>
          <a:prstGeom prst="rect">
            <a:avLst/>
          </a:prstGeom>
          <a:noFill/>
        </p:spPr>
        <p:txBody>
          <a:bodyPr wrap="square" lIns="0" rIns="0" tIns="0" bIns="0" anchor="t">
            <a:spAutoFit/>
          </a:bodyPr>
          <a:lstStyle/>
          <a:p>
            <a:pPr algn="ctr">
              <a:lnSpc>
                <a:spcPts val="1743"/>
              </a:lnSpc>
            </a:pPr>
            <a:r>
              <a:rPr b="0" sz="1125" i="0" u="none">
                <a:solidFill>
                  <a:srgbClr val="475569"/>
                </a:solidFill>
                <a:latin typeface="Inter"/>
              </a:rPr>
              <a:t>Rà soát chính sách chiết khấu &amp; xây dựng lại quy trình phân loại dữ liệu khách hàng.</a:t>
            </a:r>
          </a:p>
        </p:txBody>
      </p:sp>
      <p:sp>
        <p:nvSpPr>
          <p:cNvPr id="6" name="TextBox 5"/>
          <p:cNvSpPr txBox="1"/>
          <p:nvPr/>
        </p:nvSpPr>
        <p:spPr>
          <a:xfrm>
            <a:off x="3343888" y="2464593"/>
            <a:ext cx="2668302" cy="238125"/>
          </a:xfrm>
          <a:prstGeom prst="rect">
            <a:avLst/>
          </a:prstGeom>
          <a:noFill/>
        </p:spPr>
        <p:txBody>
          <a:bodyPr wrap="square" lIns="0" rIns="0" tIns="0" bIns="0" anchor="t">
            <a:spAutoFit/>
          </a:bodyPr>
          <a:lstStyle/>
          <a:p>
            <a:pPr algn="ctr"/>
            <a:r>
              <a:rPr b="0" sz="1500" i="0" u="none">
                <a:solidFill>
                  <a:srgbClr val="4F46E5"/>
                </a:solidFill>
                <a:latin typeface="Be Vietnam Pro SemiBold"/>
              </a:rPr>
              <a:t>Q2 - Ra Mắt Loyalty</a:t>
            </a:r>
          </a:p>
        </p:txBody>
      </p:sp>
      <p:sp>
        <p:nvSpPr>
          <p:cNvPr id="7" name="TextBox 6"/>
          <p:cNvSpPr txBox="1"/>
          <p:nvPr/>
        </p:nvSpPr>
        <p:spPr>
          <a:xfrm>
            <a:off x="3407419" y="2759868"/>
            <a:ext cx="2541240" cy="664368"/>
          </a:xfrm>
          <a:prstGeom prst="rect">
            <a:avLst/>
          </a:prstGeom>
          <a:noFill/>
        </p:spPr>
        <p:txBody>
          <a:bodyPr wrap="square" lIns="0" rIns="0" tIns="0" bIns="0" anchor="t">
            <a:spAutoFit/>
          </a:bodyPr>
          <a:lstStyle/>
          <a:p>
            <a:pPr algn="ctr">
              <a:lnSpc>
                <a:spcPts val="1743"/>
              </a:lnSpc>
            </a:pPr>
            <a:r>
              <a:rPr b="0" sz="1125" i="0" u="none">
                <a:solidFill>
                  <a:srgbClr val="475569"/>
                </a:solidFill>
                <a:latin typeface="Inter"/>
              </a:rPr>
              <a:t>Cập nhật gói quyền lợi Hội Viên độc quyền &amp; triển khai chương trình ưu đãi Vận chuyển Nhanh.</a:t>
            </a:r>
          </a:p>
        </p:txBody>
      </p:sp>
      <p:sp>
        <p:nvSpPr>
          <p:cNvPr id="8" name="TextBox 7"/>
          <p:cNvSpPr txBox="1"/>
          <p:nvPr/>
        </p:nvSpPr>
        <p:spPr>
          <a:xfrm>
            <a:off x="6179808" y="4014787"/>
            <a:ext cx="2668302" cy="238125"/>
          </a:xfrm>
          <a:prstGeom prst="rect">
            <a:avLst/>
          </a:prstGeom>
          <a:noFill/>
        </p:spPr>
        <p:txBody>
          <a:bodyPr wrap="square" lIns="0" rIns="0" tIns="0" bIns="0" anchor="t">
            <a:spAutoFit/>
          </a:bodyPr>
          <a:lstStyle/>
          <a:p>
            <a:pPr algn="ctr"/>
            <a:r>
              <a:rPr b="0" sz="1500" i="0" u="none">
                <a:solidFill>
                  <a:srgbClr val="4F46E5"/>
                </a:solidFill>
                <a:latin typeface="Be Vietnam Pro SemiBold"/>
              </a:rPr>
              <a:t>Q3 - Tiếp Thị Phân Khúc</a:t>
            </a:r>
          </a:p>
        </p:txBody>
      </p:sp>
      <p:sp>
        <p:nvSpPr>
          <p:cNvPr id="9" name="TextBox 8"/>
          <p:cNvSpPr txBox="1"/>
          <p:nvPr/>
        </p:nvSpPr>
        <p:spPr>
          <a:xfrm>
            <a:off x="6243339" y="4310062"/>
            <a:ext cx="2541240" cy="664368"/>
          </a:xfrm>
          <a:prstGeom prst="rect">
            <a:avLst/>
          </a:prstGeom>
          <a:noFill/>
        </p:spPr>
        <p:txBody>
          <a:bodyPr wrap="square" lIns="0" rIns="0" tIns="0" bIns="0" anchor="t">
            <a:spAutoFit/>
          </a:bodyPr>
          <a:lstStyle/>
          <a:p>
            <a:pPr algn="ctr">
              <a:lnSpc>
                <a:spcPts val="1743"/>
              </a:lnSpc>
            </a:pPr>
            <a:r>
              <a:rPr b="0" sz="1125" i="0" u="none">
                <a:solidFill>
                  <a:srgbClr val="475569"/>
                </a:solidFill>
                <a:latin typeface="Inter"/>
              </a:rPr>
              <a:t>Đẩy mạnh chiến dịch truyền thông nhắm vào phân khúc Nữ giới &amp; các dòng sản phẩm có rating cao.</a:t>
            </a:r>
          </a:p>
        </p:txBody>
      </p:sp>
      <p:sp>
        <p:nvSpPr>
          <p:cNvPr id="10" name="TextBox 9"/>
          <p:cNvSpPr txBox="1"/>
          <p:nvPr/>
        </p:nvSpPr>
        <p:spPr>
          <a:xfrm>
            <a:off x="9015728" y="2464593"/>
            <a:ext cx="2668302" cy="238125"/>
          </a:xfrm>
          <a:prstGeom prst="rect">
            <a:avLst/>
          </a:prstGeom>
          <a:noFill/>
        </p:spPr>
        <p:txBody>
          <a:bodyPr wrap="square" lIns="0" rIns="0" tIns="0" bIns="0" anchor="t">
            <a:spAutoFit/>
          </a:bodyPr>
          <a:lstStyle/>
          <a:p>
            <a:pPr algn="ctr"/>
            <a:r>
              <a:rPr b="0" sz="1500" i="0" u="none">
                <a:solidFill>
                  <a:srgbClr val="4F46E5"/>
                </a:solidFill>
                <a:latin typeface="Be Vietnam Pro SemiBold"/>
              </a:rPr>
              <a:t>Q4 - Đánh Giá &amp; Tối Ưu</a:t>
            </a:r>
          </a:p>
        </p:txBody>
      </p:sp>
      <p:sp>
        <p:nvSpPr>
          <p:cNvPr id="11" name="TextBox 10"/>
          <p:cNvSpPr txBox="1"/>
          <p:nvPr/>
        </p:nvSpPr>
        <p:spPr>
          <a:xfrm>
            <a:off x="9079259" y="2759868"/>
            <a:ext cx="2541240" cy="664368"/>
          </a:xfrm>
          <a:prstGeom prst="rect">
            <a:avLst/>
          </a:prstGeom>
          <a:noFill/>
        </p:spPr>
        <p:txBody>
          <a:bodyPr wrap="square" lIns="0" rIns="0" tIns="0" bIns="0" anchor="t">
            <a:spAutoFit/>
          </a:bodyPr>
          <a:lstStyle/>
          <a:p>
            <a:pPr algn="ctr">
              <a:lnSpc>
                <a:spcPts val="1743"/>
              </a:lnSpc>
            </a:pPr>
            <a:r>
              <a:rPr b="0" sz="1125" i="0" u="none">
                <a:solidFill>
                  <a:srgbClr val="475569"/>
                </a:solidFill>
                <a:latin typeface="Inter"/>
              </a:rPr>
              <a:t>Đo lường các chỉ số tăng trưởng doanh thu, tỷ lệ duy trì hội viên và biên lợi nhuận thuần.</a:t>
            </a:r>
          </a:p>
        </p:txBody>
      </p:sp>
      <p:sp>
        <p:nvSpPr>
          <p:cNvPr id="12" name="TextBox 11"/>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Lộ Trình Triển Khai Giải Pháp</a:t>
            </a:r>
          </a:p>
        </p:txBody>
      </p:sp>
      <p:sp>
        <p:nvSpPr>
          <p:cNvPr id="13" name="Rounded Rectangle 12"/>
          <p:cNvSpPr/>
          <p:nvPr/>
        </p:nvSpPr>
        <p:spPr>
          <a:xfrm>
            <a:off x="1746870" y="3681412"/>
            <a:ext cx="190500" cy="190500"/>
          </a:xfrm>
          <a:prstGeom prst="roundRect">
            <a:avLst>
              <a:gd name="adj" fmla="val 50000"/>
            </a:avLst>
          </a:prstGeom>
          <a:solidFill>
            <a:srgbClr val="FFFFFF"/>
          </a:solidFill>
          <a:ln w="381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82790" y="3681412"/>
            <a:ext cx="190500" cy="190500"/>
          </a:xfrm>
          <a:prstGeom prst="roundRect">
            <a:avLst>
              <a:gd name="adj" fmla="val 50000"/>
            </a:avLst>
          </a:prstGeom>
          <a:solidFill>
            <a:srgbClr val="FFFFFF"/>
          </a:solidFill>
          <a:ln w="381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8709" y="3681412"/>
            <a:ext cx="190500" cy="190500"/>
          </a:xfrm>
          <a:prstGeom prst="roundRect">
            <a:avLst>
              <a:gd name="adj" fmla="val 50000"/>
            </a:avLst>
          </a:prstGeom>
          <a:solidFill>
            <a:srgbClr val="FFFFFF"/>
          </a:solidFill>
          <a:ln w="381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254629" y="3681412"/>
            <a:ext cx="190500" cy="190500"/>
          </a:xfrm>
          <a:prstGeom prst="roundRect">
            <a:avLst>
              <a:gd name="adj" fmla="val 50000"/>
            </a:avLst>
          </a:prstGeom>
          <a:solidFill>
            <a:srgbClr val="FFFFFF"/>
          </a:solidFill>
          <a:ln w="381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476250"/>
            <a:ext cx="11601450" cy="771525"/>
          </a:xfrm>
          <a:prstGeom prst="rect">
            <a:avLst/>
          </a:prstGeom>
          <a:noFill/>
        </p:spPr>
        <p:txBody>
          <a:bodyPr wrap="square" lIns="0" rIns="0" tIns="0" bIns="0" anchor="t">
            <a:spAutoFit/>
          </a:bodyPr>
          <a:lstStyle/>
          <a:p>
            <a:pPr algn="ctr"/>
            <a:r>
              <a:rPr b="1" sz="4800" i="0" u="none">
                <a:solidFill>
                  <a:srgbClr val="0F172A"/>
                </a:solidFill>
                <a:latin typeface="Be Vietnam Pro"/>
              </a:rPr>
              <a:t>Thảo Luận &amp; Hỏi Đáp</a:t>
            </a:r>
          </a:p>
        </p:txBody>
      </p:sp>
      <p:sp>
        <p:nvSpPr>
          <p:cNvPr id="4" name="TextBox 3"/>
          <p:cNvSpPr txBox="1"/>
          <p:nvPr/>
        </p:nvSpPr>
        <p:spPr>
          <a:xfrm>
            <a:off x="571500" y="1400175"/>
            <a:ext cx="11049000" cy="324742"/>
          </a:xfrm>
          <a:prstGeom prst="rect">
            <a:avLst/>
          </a:prstGeom>
          <a:noFill/>
        </p:spPr>
        <p:txBody>
          <a:bodyPr wrap="square" lIns="0" rIns="0" tIns="0" bIns="0" anchor="t">
            <a:spAutoFit/>
          </a:bodyPr>
          <a:lstStyle/>
          <a:p>
            <a:pPr algn="ctr">
              <a:lnSpc>
                <a:spcPts val="2557"/>
              </a:lnSpc>
            </a:pPr>
            <a:r>
              <a:rPr b="0" sz="1650" i="0" u="none">
                <a:solidFill>
                  <a:srgbClr val="475569"/>
                </a:solidFill>
                <a:latin typeface="Inter"/>
              </a:rPr>
              <a:t>Cảm ơn bạn đã theo dõi báo cáo phân tích hành vi mua sắm khách hàng!</a:t>
            </a:r>
          </a:p>
        </p:txBody>
      </p:sp>
      <p:sp>
        <p:nvSpPr>
          <p:cNvPr id="5" name="TextBox 4"/>
          <p:cNvSpPr txBox="1"/>
          <p:nvPr/>
        </p:nvSpPr>
        <p:spPr>
          <a:xfrm>
            <a:off x="571500" y="2105917"/>
            <a:ext cx="11049000" cy="219075"/>
          </a:xfrm>
          <a:prstGeom prst="rect">
            <a:avLst/>
          </a:prstGeom>
          <a:noFill/>
        </p:spPr>
        <p:txBody>
          <a:bodyPr wrap="square" lIns="0" rIns="0" tIns="0" bIns="0" anchor="t">
            <a:spAutoFit/>
          </a:bodyPr>
          <a:lstStyle/>
          <a:p>
            <a:pPr algn="ctr"/>
            <a:r>
              <a:rPr b="0" sz="1350" i="0" u="none">
                <a:solidFill>
                  <a:srgbClr val="4F46E5"/>
                </a:solidFill>
                <a:latin typeface="Be Vietnam Pro SemiBold"/>
              </a:rPr>
              <a:t>Dự Án Phân Tích Dữ Liệu Khách Hàng | Power BI &amp; SQL Analytics Team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586037" y="3538537"/>
            <a:ext cx="857250" cy="476250"/>
          </a:xfrm>
          <a:prstGeom prst="rect">
            <a:avLst/>
          </a:prstGeom>
        </p:spPr>
      </p:pic>
      <p:sp>
        <p:nvSpPr>
          <p:cNvPr id="4" name="TextBox 3"/>
          <p:cNvSpPr txBox="1"/>
          <p:nvPr/>
        </p:nvSpPr>
        <p:spPr>
          <a:xfrm>
            <a:off x="3681412" y="3538835"/>
            <a:ext cx="5924550" cy="191839"/>
          </a:xfrm>
          <a:prstGeom prst="rect">
            <a:avLst/>
          </a:prstGeom>
          <a:noFill/>
        </p:spPr>
        <p:txBody>
          <a:bodyPr wrap="square" lIns="0" rIns="0" tIns="0" bIns="0" anchor="t">
            <a:spAutoFit/>
          </a:bodyPr>
          <a:lstStyle/>
          <a:p>
            <a:pPr algn="l">
              <a:lnSpc>
                <a:spcPts val="1511"/>
              </a:lnSpc>
            </a:pPr>
            <a:r>
              <a:rPr b="0" sz="975" i="0" u="none">
                <a:solidFill>
                  <a:srgbClr val="475569"/>
                </a:solidFill>
                <a:latin typeface="Inter"/>
              </a:rPr>
              <a:t>https://www.mdpi.com/jtaer/jtaer-20-00251/article_deploy/html/images/jtaer-20-00251-g001-550.jpg</a:t>
            </a:r>
          </a:p>
        </p:txBody>
      </p:sp>
      <p:sp>
        <p:nvSpPr>
          <p:cNvPr id="5" name="TextBox 4"/>
          <p:cNvSpPr txBox="1"/>
          <p:nvPr/>
        </p:nvSpPr>
        <p:spPr>
          <a:xfrm>
            <a:off x="3681412" y="3778299"/>
            <a:ext cx="5924550" cy="236190"/>
          </a:xfrm>
          <a:prstGeom prst="rect">
            <a:avLst/>
          </a:prstGeom>
          <a:noFill/>
        </p:spPr>
        <p:txBody>
          <a:bodyPr wrap="square" lIns="0" rIns="0" tIns="0" bIns="0" anchor="t">
            <a:spAutoFit/>
          </a:bodyPr>
          <a:lstStyle/>
          <a:p>
            <a:pPr algn="l">
              <a:lnSpc>
                <a:spcPts val="1860"/>
              </a:lnSpc>
            </a:pPr>
            <a:r>
              <a:rPr b="0" sz="1200" i="0" u="none">
                <a:solidFill>
                  <a:srgbClr val="475569"/>
                </a:solidFill>
                <a:latin typeface="Inter"/>
              </a:rPr>
              <a:t>Source: </a:t>
            </a:r>
            <a:r>
              <a:rPr b="0" sz="1200" i="0" u="none">
                <a:solidFill>
                  <a:srgbClr val="4F46E5"/>
                </a:solidFill>
                <a:latin typeface="Inter"/>
              </a:rPr>
              <a:t>www.mdpi.com</a:t>
            </a:r>
          </a:p>
        </p:txBody>
      </p:sp>
      <p:sp>
        <p:nvSpPr>
          <p:cNvPr id="6" name="TextBox 5"/>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Be Vietnam Pro"/>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